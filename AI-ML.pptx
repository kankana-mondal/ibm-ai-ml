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p:scale>
          <a:sx n="75" d="100"/>
          <a:sy n="75" d="100"/>
        </p:scale>
        <p:origin x="931" y="3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A97ED-9B61-4FEA-900D-E844B98B8D9A}"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IN"/>
        </a:p>
      </dgm:t>
    </dgm:pt>
    <dgm:pt modelId="{052A435E-15F0-446C-A02C-7375346DB1BB}">
      <dgm:prSet phldrT="[Text]"/>
      <dgm:spPr/>
      <dgm:t>
        <a:bodyPr/>
        <a:lstStyle/>
        <a:p>
          <a:pPr>
            <a:buNone/>
          </a:pPr>
          <a:r>
            <a:rPr lang="en-IN" b="1" dirty="0"/>
            <a:t>Data Cleaning</a:t>
          </a:r>
        </a:p>
        <a:p>
          <a:pPr>
            <a:buNone/>
          </a:pPr>
          <a:r>
            <a:rPr lang="en-US" dirty="0"/>
            <a:t>Handled missing values and removed duplicate rows to ensure data integrity</a:t>
          </a:r>
          <a:endParaRPr lang="en-IN" dirty="0"/>
        </a:p>
      </dgm:t>
    </dgm:pt>
    <dgm:pt modelId="{EE32A26A-D9A4-4439-84DB-16C6FEB7976E}" type="parTrans" cxnId="{A05F3170-DA93-4075-8A4F-76E0DFD80549}">
      <dgm:prSet/>
      <dgm:spPr/>
      <dgm:t>
        <a:bodyPr/>
        <a:lstStyle/>
        <a:p>
          <a:endParaRPr lang="en-IN"/>
        </a:p>
      </dgm:t>
    </dgm:pt>
    <dgm:pt modelId="{CE228197-37FC-4EE5-97DF-2B74A339EAAB}" type="sibTrans" cxnId="{A05F3170-DA93-4075-8A4F-76E0DFD80549}">
      <dgm:prSet/>
      <dgm:spPr/>
      <dgm:t>
        <a:bodyPr/>
        <a:lstStyle/>
        <a:p>
          <a:endParaRPr lang="en-IN"/>
        </a:p>
      </dgm:t>
    </dgm:pt>
    <dgm:pt modelId="{BDCA8822-494F-4839-BA6B-4D1AAE4F7F30}">
      <dgm:prSet phldrT="[Text]"/>
      <dgm:spPr/>
      <dgm:t>
        <a:bodyPr/>
        <a:lstStyle/>
        <a:p>
          <a:pPr>
            <a:buNone/>
          </a:pPr>
          <a:r>
            <a:rPr lang="en-IN" b="1" dirty="0"/>
            <a:t>Feature Engineering</a:t>
          </a:r>
        </a:p>
        <a:p>
          <a:pPr>
            <a:buNone/>
          </a:pPr>
          <a:r>
            <a:rPr lang="en-US" dirty="0"/>
            <a:t>Converted categorical variables and created BMI ranges for better risk grouping</a:t>
          </a:r>
          <a:endParaRPr lang="en-IN" dirty="0"/>
        </a:p>
      </dgm:t>
    </dgm:pt>
    <dgm:pt modelId="{6D9C1C2F-E3EB-4912-AE38-1DE01F60AA00}" type="parTrans" cxnId="{F4855912-2A63-4F53-9FFC-814D736F609D}">
      <dgm:prSet/>
      <dgm:spPr/>
      <dgm:t>
        <a:bodyPr/>
        <a:lstStyle/>
        <a:p>
          <a:endParaRPr lang="en-IN"/>
        </a:p>
      </dgm:t>
    </dgm:pt>
    <dgm:pt modelId="{7463C4D8-F7DA-4538-AA13-B232BFF1AABB}" type="sibTrans" cxnId="{F4855912-2A63-4F53-9FFC-814D736F609D}">
      <dgm:prSet/>
      <dgm:spPr/>
      <dgm:t>
        <a:bodyPr/>
        <a:lstStyle/>
        <a:p>
          <a:endParaRPr lang="en-IN"/>
        </a:p>
      </dgm:t>
    </dgm:pt>
    <dgm:pt modelId="{6272CF4F-0F41-4071-9F6A-6290FB03E479}">
      <dgm:prSet phldrT="[Text]"/>
      <dgm:spPr/>
      <dgm:t>
        <a:bodyPr/>
        <a:lstStyle/>
        <a:p>
          <a:pPr>
            <a:buNone/>
          </a:pPr>
          <a:r>
            <a:rPr lang="en-IN" b="1" dirty="0"/>
            <a:t>Normalization</a:t>
          </a:r>
        </a:p>
        <a:p>
          <a:pPr>
            <a:buNone/>
          </a:pPr>
          <a:r>
            <a:rPr lang="en-US" dirty="0"/>
            <a:t>Scaled numerical values and removed outliers for optimal model performance</a:t>
          </a:r>
          <a:endParaRPr lang="en-IN" dirty="0"/>
        </a:p>
      </dgm:t>
    </dgm:pt>
    <dgm:pt modelId="{0F0C3BCB-33A2-4F70-8CCA-D7569AD66E3A}" type="parTrans" cxnId="{221B24DC-28C7-4876-835C-488646E4E3E9}">
      <dgm:prSet/>
      <dgm:spPr/>
      <dgm:t>
        <a:bodyPr/>
        <a:lstStyle/>
        <a:p>
          <a:endParaRPr lang="en-IN"/>
        </a:p>
      </dgm:t>
    </dgm:pt>
    <dgm:pt modelId="{3C32A106-B296-4306-AB9B-DE99F81DEF41}" type="sibTrans" cxnId="{221B24DC-28C7-4876-835C-488646E4E3E9}">
      <dgm:prSet/>
      <dgm:spPr/>
      <dgm:t>
        <a:bodyPr/>
        <a:lstStyle/>
        <a:p>
          <a:endParaRPr lang="en-IN"/>
        </a:p>
      </dgm:t>
    </dgm:pt>
    <dgm:pt modelId="{1E954943-C722-4A05-AA23-A634A0BB32CE}" type="pres">
      <dgm:prSet presAssocID="{E0DA97ED-9B61-4FEA-900D-E844B98B8D9A}" presName="Name0" presStyleCnt="0">
        <dgm:presLayoutVars>
          <dgm:chMax val="7"/>
          <dgm:chPref val="7"/>
          <dgm:dir/>
        </dgm:presLayoutVars>
      </dgm:prSet>
      <dgm:spPr/>
    </dgm:pt>
    <dgm:pt modelId="{DC64036A-7C19-4212-8EC2-DE26B5308B10}" type="pres">
      <dgm:prSet presAssocID="{E0DA97ED-9B61-4FEA-900D-E844B98B8D9A}" presName="Name1" presStyleCnt="0"/>
      <dgm:spPr/>
    </dgm:pt>
    <dgm:pt modelId="{FF55C619-FB9F-470A-96B4-A111EA9F7687}" type="pres">
      <dgm:prSet presAssocID="{E0DA97ED-9B61-4FEA-900D-E844B98B8D9A}" presName="cycle" presStyleCnt="0"/>
      <dgm:spPr/>
    </dgm:pt>
    <dgm:pt modelId="{CC5F0156-566F-40C2-999B-0505CF5FAE66}" type="pres">
      <dgm:prSet presAssocID="{E0DA97ED-9B61-4FEA-900D-E844B98B8D9A}" presName="srcNode" presStyleLbl="node1" presStyleIdx="0" presStyleCnt="3"/>
      <dgm:spPr/>
    </dgm:pt>
    <dgm:pt modelId="{1FF65E19-8F72-4E3D-BCC9-868FE3CBCD07}" type="pres">
      <dgm:prSet presAssocID="{E0DA97ED-9B61-4FEA-900D-E844B98B8D9A}" presName="conn" presStyleLbl="parChTrans1D2" presStyleIdx="0" presStyleCnt="1"/>
      <dgm:spPr/>
    </dgm:pt>
    <dgm:pt modelId="{7BDD3955-BDB8-4F65-A3E3-4B1F8B95B632}" type="pres">
      <dgm:prSet presAssocID="{E0DA97ED-9B61-4FEA-900D-E844B98B8D9A}" presName="extraNode" presStyleLbl="node1" presStyleIdx="0" presStyleCnt="3"/>
      <dgm:spPr/>
    </dgm:pt>
    <dgm:pt modelId="{B3589C17-9E17-47EF-B76F-8A2FB040AE6C}" type="pres">
      <dgm:prSet presAssocID="{E0DA97ED-9B61-4FEA-900D-E844B98B8D9A}" presName="dstNode" presStyleLbl="node1" presStyleIdx="0" presStyleCnt="3"/>
      <dgm:spPr/>
    </dgm:pt>
    <dgm:pt modelId="{C9F73BBD-8B43-4453-96E3-CF0649421473}" type="pres">
      <dgm:prSet presAssocID="{052A435E-15F0-446C-A02C-7375346DB1BB}" presName="text_1" presStyleLbl="node1" presStyleIdx="0" presStyleCnt="3">
        <dgm:presLayoutVars>
          <dgm:bulletEnabled val="1"/>
        </dgm:presLayoutVars>
      </dgm:prSet>
      <dgm:spPr/>
    </dgm:pt>
    <dgm:pt modelId="{385D4FD9-0C92-4165-9504-AF63D294EAE7}" type="pres">
      <dgm:prSet presAssocID="{052A435E-15F0-446C-A02C-7375346DB1BB}" presName="accent_1" presStyleCnt="0"/>
      <dgm:spPr/>
    </dgm:pt>
    <dgm:pt modelId="{18B40F57-2122-4AB8-8637-95331CBC4EA1}" type="pres">
      <dgm:prSet presAssocID="{052A435E-15F0-446C-A02C-7375346DB1BB}" presName="accentRepeatNode" presStyleLbl="solidFgAcc1" presStyleIdx="0" presStyleCnt="3"/>
      <dgm:spPr/>
    </dgm:pt>
    <dgm:pt modelId="{1FEDE9C4-6932-4179-A47C-198D4E2574F8}" type="pres">
      <dgm:prSet presAssocID="{BDCA8822-494F-4839-BA6B-4D1AAE4F7F30}" presName="text_2" presStyleLbl="node1" presStyleIdx="1" presStyleCnt="3">
        <dgm:presLayoutVars>
          <dgm:bulletEnabled val="1"/>
        </dgm:presLayoutVars>
      </dgm:prSet>
      <dgm:spPr/>
    </dgm:pt>
    <dgm:pt modelId="{3E75C608-3F37-44AC-8705-0F1EBFEA9502}" type="pres">
      <dgm:prSet presAssocID="{BDCA8822-494F-4839-BA6B-4D1AAE4F7F30}" presName="accent_2" presStyleCnt="0"/>
      <dgm:spPr/>
    </dgm:pt>
    <dgm:pt modelId="{4A449931-FEFE-4C77-8471-A9EE14A75B5A}" type="pres">
      <dgm:prSet presAssocID="{BDCA8822-494F-4839-BA6B-4D1AAE4F7F30}" presName="accentRepeatNode" presStyleLbl="solidFgAcc1" presStyleIdx="1" presStyleCnt="3"/>
      <dgm:spPr/>
    </dgm:pt>
    <dgm:pt modelId="{59B14390-1747-499E-9ADD-5A07CDE7D3CE}" type="pres">
      <dgm:prSet presAssocID="{6272CF4F-0F41-4071-9F6A-6290FB03E479}" presName="text_3" presStyleLbl="node1" presStyleIdx="2" presStyleCnt="3">
        <dgm:presLayoutVars>
          <dgm:bulletEnabled val="1"/>
        </dgm:presLayoutVars>
      </dgm:prSet>
      <dgm:spPr/>
    </dgm:pt>
    <dgm:pt modelId="{798BF4AE-C693-46D9-B093-070F70FB0884}" type="pres">
      <dgm:prSet presAssocID="{6272CF4F-0F41-4071-9F6A-6290FB03E479}" presName="accent_3" presStyleCnt="0"/>
      <dgm:spPr/>
    </dgm:pt>
    <dgm:pt modelId="{EA13CE3D-8654-4FF0-ADE5-D2D767D7915D}" type="pres">
      <dgm:prSet presAssocID="{6272CF4F-0F41-4071-9F6A-6290FB03E479}" presName="accentRepeatNode" presStyleLbl="solidFgAcc1" presStyleIdx="2" presStyleCnt="3"/>
      <dgm:spPr/>
    </dgm:pt>
  </dgm:ptLst>
  <dgm:cxnLst>
    <dgm:cxn modelId="{E510430A-9EF4-4203-9FBA-CD0F9AC15BB3}" type="presOf" srcId="{052A435E-15F0-446C-A02C-7375346DB1BB}" destId="{C9F73BBD-8B43-4453-96E3-CF0649421473}" srcOrd="0" destOrd="0" presId="urn:microsoft.com/office/officeart/2008/layout/VerticalCurvedList"/>
    <dgm:cxn modelId="{F4855912-2A63-4F53-9FFC-814D736F609D}" srcId="{E0DA97ED-9B61-4FEA-900D-E844B98B8D9A}" destId="{BDCA8822-494F-4839-BA6B-4D1AAE4F7F30}" srcOrd="1" destOrd="0" parTransId="{6D9C1C2F-E3EB-4912-AE38-1DE01F60AA00}" sibTransId="{7463C4D8-F7DA-4538-AA13-B232BFF1AABB}"/>
    <dgm:cxn modelId="{A05F3170-DA93-4075-8A4F-76E0DFD80549}" srcId="{E0DA97ED-9B61-4FEA-900D-E844B98B8D9A}" destId="{052A435E-15F0-446C-A02C-7375346DB1BB}" srcOrd="0" destOrd="0" parTransId="{EE32A26A-D9A4-4439-84DB-16C6FEB7976E}" sibTransId="{CE228197-37FC-4EE5-97DF-2B74A339EAAB}"/>
    <dgm:cxn modelId="{2938BF72-9697-47DD-8672-FF3A4BC5AF54}" type="presOf" srcId="{CE228197-37FC-4EE5-97DF-2B74A339EAAB}" destId="{1FF65E19-8F72-4E3D-BCC9-868FE3CBCD07}" srcOrd="0" destOrd="0" presId="urn:microsoft.com/office/officeart/2008/layout/VerticalCurvedList"/>
    <dgm:cxn modelId="{4F041655-E29D-4388-89C5-810E665B8B3B}" type="presOf" srcId="{BDCA8822-494F-4839-BA6B-4D1AAE4F7F30}" destId="{1FEDE9C4-6932-4179-A47C-198D4E2574F8}" srcOrd="0" destOrd="0" presId="urn:microsoft.com/office/officeart/2008/layout/VerticalCurvedList"/>
    <dgm:cxn modelId="{FAD587A1-46DB-48DC-8905-200DC0799B42}" type="presOf" srcId="{6272CF4F-0F41-4071-9F6A-6290FB03E479}" destId="{59B14390-1747-499E-9ADD-5A07CDE7D3CE}" srcOrd="0" destOrd="0" presId="urn:microsoft.com/office/officeart/2008/layout/VerticalCurvedList"/>
    <dgm:cxn modelId="{DCD7D3D6-EE1D-4DE7-B653-8AC6DB9B7A46}" type="presOf" srcId="{E0DA97ED-9B61-4FEA-900D-E844B98B8D9A}" destId="{1E954943-C722-4A05-AA23-A634A0BB32CE}" srcOrd="0" destOrd="0" presId="urn:microsoft.com/office/officeart/2008/layout/VerticalCurvedList"/>
    <dgm:cxn modelId="{221B24DC-28C7-4876-835C-488646E4E3E9}" srcId="{E0DA97ED-9B61-4FEA-900D-E844B98B8D9A}" destId="{6272CF4F-0F41-4071-9F6A-6290FB03E479}" srcOrd="2" destOrd="0" parTransId="{0F0C3BCB-33A2-4F70-8CCA-D7569AD66E3A}" sibTransId="{3C32A106-B296-4306-AB9B-DE99F81DEF41}"/>
    <dgm:cxn modelId="{09075D24-6F36-4CBD-A49B-97CA6166C28F}" type="presParOf" srcId="{1E954943-C722-4A05-AA23-A634A0BB32CE}" destId="{DC64036A-7C19-4212-8EC2-DE26B5308B10}" srcOrd="0" destOrd="0" presId="urn:microsoft.com/office/officeart/2008/layout/VerticalCurvedList"/>
    <dgm:cxn modelId="{531E0C39-E8E6-42FD-A1A1-83A25D04888C}" type="presParOf" srcId="{DC64036A-7C19-4212-8EC2-DE26B5308B10}" destId="{FF55C619-FB9F-470A-96B4-A111EA9F7687}" srcOrd="0" destOrd="0" presId="urn:microsoft.com/office/officeart/2008/layout/VerticalCurvedList"/>
    <dgm:cxn modelId="{693DD89E-7FE2-4CD6-9A24-9D6AE2B88951}" type="presParOf" srcId="{FF55C619-FB9F-470A-96B4-A111EA9F7687}" destId="{CC5F0156-566F-40C2-999B-0505CF5FAE66}" srcOrd="0" destOrd="0" presId="urn:microsoft.com/office/officeart/2008/layout/VerticalCurvedList"/>
    <dgm:cxn modelId="{5C787F71-6283-41DE-9546-07BF5E370E79}" type="presParOf" srcId="{FF55C619-FB9F-470A-96B4-A111EA9F7687}" destId="{1FF65E19-8F72-4E3D-BCC9-868FE3CBCD07}" srcOrd="1" destOrd="0" presId="urn:microsoft.com/office/officeart/2008/layout/VerticalCurvedList"/>
    <dgm:cxn modelId="{62780440-8499-42F0-93C4-ABB3FA30F365}" type="presParOf" srcId="{FF55C619-FB9F-470A-96B4-A111EA9F7687}" destId="{7BDD3955-BDB8-4F65-A3E3-4B1F8B95B632}" srcOrd="2" destOrd="0" presId="urn:microsoft.com/office/officeart/2008/layout/VerticalCurvedList"/>
    <dgm:cxn modelId="{AE198D74-7162-4A4D-AB19-31FB0B24C059}" type="presParOf" srcId="{FF55C619-FB9F-470A-96B4-A111EA9F7687}" destId="{B3589C17-9E17-47EF-B76F-8A2FB040AE6C}" srcOrd="3" destOrd="0" presId="urn:microsoft.com/office/officeart/2008/layout/VerticalCurvedList"/>
    <dgm:cxn modelId="{015416E5-3FAD-48FB-A479-78165797FE42}" type="presParOf" srcId="{DC64036A-7C19-4212-8EC2-DE26B5308B10}" destId="{C9F73BBD-8B43-4453-96E3-CF0649421473}" srcOrd="1" destOrd="0" presId="urn:microsoft.com/office/officeart/2008/layout/VerticalCurvedList"/>
    <dgm:cxn modelId="{1DC07D1F-8D2D-437B-8921-727682E5964E}" type="presParOf" srcId="{DC64036A-7C19-4212-8EC2-DE26B5308B10}" destId="{385D4FD9-0C92-4165-9504-AF63D294EAE7}" srcOrd="2" destOrd="0" presId="urn:microsoft.com/office/officeart/2008/layout/VerticalCurvedList"/>
    <dgm:cxn modelId="{F8CBF3B0-C6E8-4744-A493-2B30BD02006D}" type="presParOf" srcId="{385D4FD9-0C92-4165-9504-AF63D294EAE7}" destId="{18B40F57-2122-4AB8-8637-95331CBC4EA1}" srcOrd="0" destOrd="0" presId="urn:microsoft.com/office/officeart/2008/layout/VerticalCurvedList"/>
    <dgm:cxn modelId="{D09581B1-BFFA-4E7A-8811-B679409A6DFE}" type="presParOf" srcId="{DC64036A-7C19-4212-8EC2-DE26B5308B10}" destId="{1FEDE9C4-6932-4179-A47C-198D4E2574F8}" srcOrd="3" destOrd="0" presId="urn:microsoft.com/office/officeart/2008/layout/VerticalCurvedList"/>
    <dgm:cxn modelId="{29EE4A21-5187-4906-9D7C-9A91912E3753}" type="presParOf" srcId="{DC64036A-7C19-4212-8EC2-DE26B5308B10}" destId="{3E75C608-3F37-44AC-8705-0F1EBFEA9502}" srcOrd="4" destOrd="0" presId="urn:microsoft.com/office/officeart/2008/layout/VerticalCurvedList"/>
    <dgm:cxn modelId="{C11670FD-1391-4675-ACD4-53161E943792}" type="presParOf" srcId="{3E75C608-3F37-44AC-8705-0F1EBFEA9502}" destId="{4A449931-FEFE-4C77-8471-A9EE14A75B5A}" srcOrd="0" destOrd="0" presId="urn:microsoft.com/office/officeart/2008/layout/VerticalCurvedList"/>
    <dgm:cxn modelId="{64F6816E-E069-4C87-8DB1-20876B609D43}" type="presParOf" srcId="{DC64036A-7C19-4212-8EC2-DE26B5308B10}" destId="{59B14390-1747-499E-9ADD-5A07CDE7D3CE}" srcOrd="5" destOrd="0" presId="urn:microsoft.com/office/officeart/2008/layout/VerticalCurvedList"/>
    <dgm:cxn modelId="{4C65C8BE-5F24-44A9-B920-D9AEF0F49565}" type="presParOf" srcId="{DC64036A-7C19-4212-8EC2-DE26B5308B10}" destId="{798BF4AE-C693-46D9-B093-070F70FB0884}" srcOrd="6" destOrd="0" presId="urn:microsoft.com/office/officeart/2008/layout/VerticalCurvedList"/>
    <dgm:cxn modelId="{6DFC6F03-FBDB-474B-BD84-30D6DABBCC24}" type="presParOf" srcId="{798BF4AE-C693-46D9-B093-070F70FB0884}" destId="{EA13CE3D-8654-4FF0-ADE5-D2D767D7915D}"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F65E19-8F72-4E3D-BCC9-868FE3CBCD07}">
      <dsp:nvSpPr>
        <dsp:cNvPr id="0" name=""/>
        <dsp:cNvSpPr/>
      </dsp:nvSpPr>
      <dsp:spPr>
        <a:xfrm>
          <a:off x="-4366354" y="-669748"/>
          <a:ext cx="5201990" cy="5201990"/>
        </a:xfrm>
        <a:prstGeom prst="blockArc">
          <a:avLst>
            <a:gd name="adj1" fmla="val 18900000"/>
            <a:gd name="adj2" fmla="val 2700000"/>
            <a:gd name="adj3" fmla="val 415"/>
          </a:avLst>
        </a:pr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9F73BBD-8B43-4453-96E3-CF0649421473}">
      <dsp:nvSpPr>
        <dsp:cNvPr id="0" name=""/>
        <dsp:cNvSpPr/>
      </dsp:nvSpPr>
      <dsp:spPr>
        <a:xfrm>
          <a:off x="537412" y="386249"/>
          <a:ext cx="8900023" cy="77249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3171" tIns="48260" rIns="48260" bIns="48260" numCol="1" spcCol="1270" anchor="ctr" anchorCtr="0">
          <a:noAutofit/>
        </a:bodyPr>
        <a:lstStyle/>
        <a:p>
          <a:pPr marL="0" lvl="0" indent="0" algn="l" defTabSz="844550">
            <a:lnSpc>
              <a:spcPct val="90000"/>
            </a:lnSpc>
            <a:spcBef>
              <a:spcPct val="0"/>
            </a:spcBef>
            <a:spcAft>
              <a:spcPct val="35000"/>
            </a:spcAft>
            <a:buNone/>
          </a:pPr>
          <a:r>
            <a:rPr lang="en-IN" sz="1900" b="1" kern="1200" dirty="0"/>
            <a:t>Data Cleaning</a:t>
          </a:r>
        </a:p>
        <a:p>
          <a:pPr marL="0" lvl="0" indent="0" algn="l" defTabSz="844550">
            <a:lnSpc>
              <a:spcPct val="90000"/>
            </a:lnSpc>
            <a:spcBef>
              <a:spcPct val="0"/>
            </a:spcBef>
            <a:spcAft>
              <a:spcPct val="35000"/>
            </a:spcAft>
            <a:buNone/>
          </a:pPr>
          <a:r>
            <a:rPr lang="en-US" sz="1900" kern="1200" dirty="0"/>
            <a:t>Handled missing values and removed duplicate rows to ensure data integrity</a:t>
          </a:r>
          <a:endParaRPr lang="en-IN" sz="1900" kern="1200" dirty="0"/>
        </a:p>
      </dsp:txBody>
      <dsp:txXfrm>
        <a:off x="537412" y="386249"/>
        <a:ext cx="8900023" cy="772498"/>
      </dsp:txXfrm>
    </dsp:sp>
    <dsp:sp modelId="{18B40F57-2122-4AB8-8637-95331CBC4EA1}">
      <dsp:nvSpPr>
        <dsp:cNvPr id="0" name=""/>
        <dsp:cNvSpPr/>
      </dsp:nvSpPr>
      <dsp:spPr>
        <a:xfrm>
          <a:off x="54600" y="289686"/>
          <a:ext cx="965623" cy="965623"/>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FEDE9C4-6932-4179-A47C-198D4E2574F8}">
      <dsp:nvSpPr>
        <dsp:cNvPr id="0" name=""/>
        <dsp:cNvSpPr/>
      </dsp:nvSpPr>
      <dsp:spPr>
        <a:xfrm>
          <a:off x="818215" y="1544997"/>
          <a:ext cx="8619220" cy="77249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3171" tIns="48260" rIns="48260" bIns="48260" numCol="1" spcCol="1270" anchor="ctr" anchorCtr="0">
          <a:noAutofit/>
        </a:bodyPr>
        <a:lstStyle/>
        <a:p>
          <a:pPr marL="0" lvl="0" indent="0" algn="l" defTabSz="844550">
            <a:lnSpc>
              <a:spcPct val="90000"/>
            </a:lnSpc>
            <a:spcBef>
              <a:spcPct val="0"/>
            </a:spcBef>
            <a:spcAft>
              <a:spcPct val="35000"/>
            </a:spcAft>
            <a:buNone/>
          </a:pPr>
          <a:r>
            <a:rPr lang="en-IN" sz="1900" b="1" kern="1200" dirty="0"/>
            <a:t>Feature Engineering</a:t>
          </a:r>
        </a:p>
        <a:p>
          <a:pPr marL="0" lvl="0" indent="0" algn="l" defTabSz="844550">
            <a:lnSpc>
              <a:spcPct val="90000"/>
            </a:lnSpc>
            <a:spcBef>
              <a:spcPct val="0"/>
            </a:spcBef>
            <a:spcAft>
              <a:spcPct val="35000"/>
            </a:spcAft>
            <a:buNone/>
          </a:pPr>
          <a:r>
            <a:rPr lang="en-US" sz="1900" kern="1200" dirty="0"/>
            <a:t>Converted categorical variables and created BMI ranges for better risk grouping</a:t>
          </a:r>
          <a:endParaRPr lang="en-IN" sz="1900" kern="1200" dirty="0"/>
        </a:p>
      </dsp:txBody>
      <dsp:txXfrm>
        <a:off x="818215" y="1544997"/>
        <a:ext cx="8619220" cy="772498"/>
      </dsp:txXfrm>
    </dsp:sp>
    <dsp:sp modelId="{4A449931-FEFE-4C77-8471-A9EE14A75B5A}">
      <dsp:nvSpPr>
        <dsp:cNvPr id="0" name=""/>
        <dsp:cNvSpPr/>
      </dsp:nvSpPr>
      <dsp:spPr>
        <a:xfrm>
          <a:off x="335404" y="1448434"/>
          <a:ext cx="965623" cy="965623"/>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14390-1747-499E-9ADD-5A07CDE7D3CE}">
      <dsp:nvSpPr>
        <dsp:cNvPr id="0" name=""/>
        <dsp:cNvSpPr/>
      </dsp:nvSpPr>
      <dsp:spPr>
        <a:xfrm>
          <a:off x="537412" y="2703745"/>
          <a:ext cx="8900023" cy="77249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3171" tIns="48260" rIns="48260" bIns="48260" numCol="1" spcCol="1270" anchor="ctr" anchorCtr="0">
          <a:noAutofit/>
        </a:bodyPr>
        <a:lstStyle/>
        <a:p>
          <a:pPr marL="0" lvl="0" indent="0" algn="l" defTabSz="844550">
            <a:lnSpc>
              <a:spcPct val="90000"/>
            </a:lnSpc>
            <a:spcBef>
              <a:spcPct val="0"/>
            </a:spcBef>
            <a:spcAft>
              <a:spcPct val="35000"/>
            </a:spcAft>
            <a:buNone/>
          </a:pPr>
          <a:r>
            <a:rPr lang="en-IN" sz="1900" b="1" kern="1200" dirty="0"/>
            <a:t>Normalization</a:t>
          </a:r>
        </a:p>
        <a:p>
          <a:pPr marL="0" lvl="0" indent="0" algn="l" defTabSz="844550">
            <a:lnSpc>
              <a:spcPct val="90000"/>
            </a:lnSpc>
            <a:spcBef>
              <a:spcPct val="0"/>
            </a:spcBef>
            <a:spcAft>
              <a:spcPct val="35000"/>
            </a:spcAft>
            <a:buNone/>
          </a:pPr>
          <a:r>
            <a:rPr lang="en-US" sz="1900" kern="1200" dirty="0"/>
            <a:t>Scaled numerical values and removed outliers for optimal model performance</a:t>
          </a:r>
          <a:endParaRPr lang="en-IN" sz="1900" kern="1200" dirty="0"/>
        </a:p>
      </dsp:txBody>
      <dsp:txXfrm>
        <a:off x="537412" y="2703745"/>
        <a:ext cx="8900023" cy="772498"/>
      </dsp:txXfrm>
    </dsp:sp>
    <dsp:sp modelId="{EA13CE3D-8654-4FF0-ADE5-D2D767D7915D}">
      <dsp:nvSpPr>
        <dsp:cNvPr id="0" name=""/>
        <dsp:cNvSpPr/>
      </dsp:nvSpPr>
      <dsp:spPr>
        <a:xfrm>
          <a:off x="54600" y="2607182"/>
          <a:ext cx="965623" cy="965623"/>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2D7F4-F740-93F8-FF2D-B4A5BFFFD2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768883E-8475-EDC6-A236-DFE4CB45B5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20B35EB6-135E-E30A-685A-9026962FAEE7}"/>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5" name="Footer Placeholder 4">
            <a:extLst>
              <a:ext uri="{FF2B5EF4-FFF2-40B4-BE49-F238E27FC236}">
                <a16:creationId xmlns:a16="http://schemas.microsoft.com/office/drawing/2014/main" id="{7675CE32-3F00-2E31-F520-6A7268C140A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AE06421-4D09-84DA-53A2-287C883DBDE8}"/>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2877872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192E4-C5E0-D59D-786E-2DA624DDD40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F6CE460-FD72-D9A6-B985-56A15BD103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489CB3D-B289-E4D1-6B82-1F94A1123605}"/>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5" name="Footer Placeholder 4">
            <a:extLst>
              <a:ext uri="{FF2B5EF4-FFF2-40B4-BE49-F238E27FC236}">
                <a16:creationId xmlns:a16="http://schemas.microsoft.com/office/drawing/2014/main" id="{BFFB9718-7B01-A56D-BBA3-6D03A8CCAB2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B3AF1F1-6658-8458-D907-365A76E7548A}"/>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20794856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19398-E1DB-527B-8951-8590415470B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C06AF04-7F65-7F28-33C1-4FB6EF27AE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EA82F74-6B0F-6BDE-C3FC-8E2F28FF063F}"/>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5" name="Footer Placeholder 4">
            <a:extLst>
              <a:ext uri="{FF2B5EF4-FFF2-40B4-BE49-F238E27FC236}">
                <a16:creationId xmlns:a16="http://schemas.microsoft.com/office/drawing/2014/main" id="{BF89F31C-D864-1485-9806-3F7F14D00F5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240A083-D05A-3199-BE84-3E980ACD6E20}"/>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1241986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99CA5-C83B-83D8-6310-4289A62A3BC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58719F1-0969-5B96-EDEE-FCC209A6AA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E3C7963-5577-1E0D-BE1F-73BE4B76593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002C8A-905B-B493-0892-0BC7E053B7C6}"/>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6" name="Footer Placeholder 5">
            <a:extLst>
              <a:ext uri="{FF2B5EF4-FFF2-40B4-BE49-F238E27FC236}">
                <a16:creationId xmlns:a16="http://schemas.microsoft.com/office/drawing/2014/main" id="{4E3FC17F-0343-8C89-4C6F-27EF2D28026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9B04CAE-95B5-B2D7-ECF9-C3CC57D0FDF1}"/>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22925008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80951-1C67-13C3-2895-13D389EBD07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07E476D-12B1-7727-78B9-D42554C5B49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73ED4-3608-9FFD-8831-F3CCE404B1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25D553C-EB9B-A1C0-03E1-05CA122C8A5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D75B9B3-4833-F9D3-C0FF-CDE5F3134B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C966AF2-0EAC-14D0-14AF-283FAE0379EC}"/>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8" name="Footer Placeholder 7">
            <a:extLst>
              <a:ext uri="{FF2B5EF4-FFF2-40B4-BE49-F238E27FC236}">
                <a16:creationId xmlns:a16="http://schemas.microsoft.com/office/drawing/2014/main" id="{E38135BF-C9BD-69B0-FE47-356F2FBE822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1D5D1546-6812-4908-4229-8FE7D4F9994F}"/>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789938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6DAC5-8441-FC47-ACC2-99E79EDECF50}"/>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01CCE1FB-E7EC-3DB7-E46B-F7F4FEC3F8A7}"/>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4" name="Footer Placeholder 3">
            <a:extLst>
              <a:ext uri="{FF2B5EF4-FFF2-40B4-BE49-F238E27FC236}">
                <a16:creationId xmlns:a16="http://schemas.microsoft.com/office/drawing/2014/main" id="{D685B571-0B2A-F420-993D-D2A1CAFF3D6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09F375E-5099-FE6E-95F8-E0F1DA8F4FD4}"/>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421155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B9AB19-225F-C7FB-5E6A-2612934F0E7F}"/>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3" name="Footer Placeholder 2">
            <a:extLst>
              <a:ext uri="{FF2B5EF4-FFF2-40B4-BE49-F238E27FC236}">
                <a16:creationId xmlns:a16="http://schemas.microsoft.com/office/drawing/2014/main" id="{C23B3098-452A-3B75-2FED-76D838BA9CF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44F357D8-F15F-CD7A-3D7B-DB98BFF27535}"/>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13471463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8859-1D7C-0984-731C-414C381EF8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E9DECF2-3C8B-9EC5-B360-13B33E5118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F1CAF57-210E-FA72-491C-909681C620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5A3A28-9A03-DCEB-C628-EF19A8CBAAA6}"/>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6" name="Footer Placeholder 5">
            <a:extLst>
              <a:ext uri="{FF2B5EF4-FFF2-40B4-BE49-F238E27FC236}">
                <a16:creationId xmlns:a16="http://schemas.microsoft.com/office/drawing/2014/main" id="{A60328AE-534A-6398-5114-8D4FFA2B6E4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2601DFB-7C10-DDF3-E5E2-65A0095AE75B}"/>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10499787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D063A-119F-79C2-6CB6-9D33EFAD63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2C7C9C4-4399-7B6F-1E68-51CD9F52346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2C85558-00E7-BF3C-6205-CC73278C38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3DC753-44A9-411C-9ADD-25DE563621B9}"/>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6" name="Footer Placeholder 5">
            <a:extLst>
              <a:ext uri="{FF2B5EF4-FFF2-40B4-BE49-F238E27FC236}">
                <a16:creationId xmlns:a16="http://schemas.microsoft.com/office/drawing/2014/main" id="{A03E6C58-A1DF-8A1C-7FC5-367807AE5DF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78A4E1D-07AE-033E-886D-EBEC9979F2DB}"/>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2868822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FF1CD-8777-DD43-C906-D92730A06D3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B5CE4A3-F623-1226-B197-A0A04C76502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0BCB9CA-AE5C-924F-23BC-0FBEF1B907AB}"/>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5" name="Footer Placeholder 4">
            <a:extLst>
              <a:ext uri="{FF2B5EF4-FFF2-40B4-BE49-F238E27FC236}">
                <a16:creationId xmlns:a16="http://schemas.microsoft.com/office/drawing/2014/main" id="{16E30AAD-6909-8280-FE9F-C3E67FF4954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D7D7898-77B7-1536-3B85-C5405AC81A61}"/>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202266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AC0D2EE-0E0C-043C-F9A5-F148B27FC80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A5E1DF3-311F-55C9-53AD-1FA836A8900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91B4250-7849-F734-52FB-1041B5B11CD6}"/>
              </a:ext>
            </a:extLst>
          </p:cNvPr>
          <p:cNvSpPr>
            <a:spLocks noGrp="1"/>
          </p:cNvSpPr>
          <p:nvPr>
            <p:ph type="dt" sz="half" idx="10"/>
          </p:nvPr>
        </p:nvSpPr>
        <p:spPr/>
        <p:txBody>
          <a:bodyPr/>
          <a:lstStyle/>
          <a:p>
            <a:fld id="{8E5F6515-8B43-4D1B-B7F9-9085B35C2D31}" type="datetimeFigureOut">
              <a:rPr lang="en-IN" smtClean="0"/>
              <a:t>14-11-2025</a:t>
            </a:fld>
            <a:endParaRPr lang="en-IN"/>
          </a:p>
        </p:txBody>
      </p:sp>
      <p:sp>
        <p:nvSpPr>
          <p:cNvPr id="5" name="Footer Placeholder 4">
            <a:extLst>
              <a:ext uri="{FF2B5EF4-FFF2-40B4-BE49-F238E27FC236}">
                <a16:creationId xmlns:a16="http://schemas.microsoft.com/office/drawing/2014/main" id="{93ABF8CA-C812-99A6-DBDB-5C336E1D3EC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68BA5FF-B1F3-A91A-7A74-06E4539073D1}"/>
              </a:ext>
            </a:extLst>
          </p:cNvPr>
          <p:cNvSpPr>
            <a:spLocks noGrp="1"/>
          </p:cNvSpPr>
          <p:nvPr>
            <p:ph type="sldNum" sz="quarter" idx="12"/>
          </p:nvPr>
        </p:nvSpPr>
        <p:spPr/>
        <p:txBody>
          <a:bodyPr/>
          <a:lstStyle/>
          <a:p>
            <a:fld id="{C7AB4912-C4A3-4CED-B37B-E488A2D1C52F}" type="slidenum">
              <a:rPr lang="en-IN" smtClean="0"/>
              <a:t>‹#›</a:t>
            </a:fld>
            <a:endParaRPr lang="en-IN"/>
          </a:p>
        </p:txBody>
      </p:sp>
    </p:spTree>
    <p:extLst>
      <p:ext uri="{BB962C8B-B14F-4D97-AF65-F5344CB8AC3E}">
        <p14:creationId xmlns:p14="http://schemas.microsoft.com/office/powerpoint/2010/main" val="126503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B1EB6B-7D40-24B4-1A21-DDD2A70BA1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CEA26A2-4438-A8E2-B17F-629310F6E0E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F054770-E7CA-1AE4-5EC0-D354D3BBF2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E5F6515-8B43-4D1B-B7F9-9085B35C2D31}" type="datetimeFigureOut">
              <a:rPr lang="en-IN" smtClean="0"/>
              <a:t>14-11-2025</a:t>
            </a:fld>
            <a:endParaRPr lang="en-IN"/>
          </a:p>
        </p:txBody>
      </p:sp>
      <p:sp>
        <p:nvSpPr>
          <p:cNvPr id="5" name="Footer Placeholder 4">
            <a:extLst>
              <a:ext uri="{FF2B5EF4-FFF2-40B4-BE49-F238E27FC236}">
                <a16:creationId xmlns:a16="http://schemas.microsoft.com/office/drawing/2014/main" id="{B0B43B2A-9F0D-AC8B-F025-D7120F82F6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A3147C28-8B72-28F9-C15D-4C9138DA4B5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AB4912-C4A3-4CED-B37B-E488A2D1C52F}" type="slidenum">
              <a:rPr lang="en-IN" smtClean="0"/>
              <a:t>‹#›</a:t>
            </a:fld>
            <a:endParaRPr lang="en-IN"/>
          </a:p>
        </p:txBody>
      </p:sp>
    </p:spTree>
    <p:extLst>
      <p:ext uri="{BB962C8B-B14F-4D97-AF65-F5344CB8AC3E}">
        <p14:creationId xmlns:p14="http://schemas.microsoft.com/office/powerpoint/2010/main" val="30006118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animalia-life.club/qa/pictures/blue-background-hd-wallpaper" TargetMode="External"/><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microsoft.com/office/2007/relationships/diagramDrawing" Target="../diagrams/drawing1.xml"/><Relationship Id="rId13" Type="http://schemas.openxmlformats.org/officeDocument/2006/relationships/image" Target="../media/image7.png"/><Relationship Id="rId3" Type="http://schemas.openxmlformats.org/officeDocument/2006/relationships/hyperlink" Target="https://animalia-life.club/qa/pictures/blue-background-hd-wallpaper" TargetMode="External"/><Relationship Id="rId7" Type="http://schemas.openxmlformats.org/officeDocument/2006/relationships/diagramColors" Target="../diagrams/colors1.xml"/><Relationship Id="rId12" Type="http://schemas.openxmlformats.org/officeDocument/2006/relationships/image" Target="../media/image6.svg"/><Relationship Id="rId2" Type="http://schemas.openxmlformats.org/officeDocument/2006/relationships/image" Target="../media/image2.jpg"/><Relationship Id="rId1" Type="http://schemas.openxmlformats.org/officeDocument/2006/relationships/slideLayout" Target="../slideLayouts/slideLayout2.xml"/><Relationship Id="rId6" Type="http://schemas.openxmlformats.org/officeDocument/2006/relationships/diagramQuickStyle" Target="../diagrams/quickStyle1.xml"/><Relationship Id="rId11" Type="http://schemas.openxmlformats.org/officeDocument/2006/relationships/image" Target="../media/image5.png"/><Relationship Id="rId5" Type="http://schemas.openxmlformats.org/officeDocument/2006/relationships/diagramLayout" Target="../diagrams/layout1.xml"/><Relationship Id="rId10" Type="http://schemas.openxmlformats.org/officeDocument/2006/relationships/image" Target="../media/image4.svg"/><Relationship Id="rId4" Type="http://schemas.openxmlformats.org/officeDocument/2006/relationships/diagramData" Target="../diagrams/data1.xml"/><Relationship Id="rId9" Type="http://schemas.openxmlformats.org/officeDocument/2006/relationships/image" Target="../media/image3.png"/><Relationship Id="rId14"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4C29DA7-C867-0C42-BDDA-56E50BDF036F}"/>
              </a:ext>
            </a:extLst>
          </p:cNvPr>
          <p:cNvPicPr>
            <a:picLocks noChangeAspect="1"/>
          </p:cNvPicPr>
          <p:nvPr/>
        </p:nvPicPr>
        <p:blipFill>
          <a:blip r:embed="rId2">
            <a:extLst>
              <a:ext uri="{BEBA8EAE-BF5A-486C-A8C5-ECC9F3942E4B}">
                <a14:imgProps xmlns:a14="http://schemas.microsoft.com/office/drawing/2010/main">
                  <a14:imgLayer r:embed="rId3">
                    <a14:imgEffect>
                      <a14:colorTemperature colorTemp="8800"/>
                    </a14:imgEffect>
                    <a14:imgEffect>
                      <a14:saturation sat="300000"/>
                    </a14:imgEffect>
                  </a14:imgLayer>
                </a14:imgProps>
              </a:ext>
              <a:ext uri="{28A0092B-C50C-407E-A947-70E740481C1C}">
                <a14:useLocalDpi xmlns:a14="http://schemas.microsoft.com/office/drawing/2010/main" val="0"/>
              </a:ext>
            </a:extLst>
          </a:blip>
          <a:stretch>
            <a:fillRect/>
          </a:stretch>
        </p:blipFill>
        <p:spPr>
          <a:xfrm>
            <a:off x="-296333" y="0"/>
            <a:ext cx="13047133" cy="7044266"/>
          </a:xfrm>
          <a:prstGeom prst="rect">
            <a:avLst/>
          </a:prstGeom>
        </p:spPr>
      </p:pic>
      <p:sp>
        <p:nvSpPr>
          <p:cNvPr id="6" name="TextBox 5">
            <a:extLst>
              <a:ext uri="{FF2B5EF4-FFF2-40B4-BE49-F238E27FC236}">
                <a16:creationId xmlns:a16="http://schemas.microsoft.com/office/drawing/2014/main" id="{7796F60C-AF40-9C52-9C88-56CFE3A31889}"/>
              </a:ext>
            </a:extLst>
          </p:cNvPr>
          <p:cNvSpPr txBox="1"/>
          <p:nvPr/>
        </p:nvSpPr>
        <p:spPr>
          <a:xfrm>
            <a:off x="-111760" y="0"/>
            <a:ext cx="7274560" cy="6463308"/>
          </a:xfrm>
          <a:prstGeom prst="rect">
            <a:avLst/>
          </a:prstGeom>
          <a:noFill/>
        </p:spPr>
        <p:txBody>
          <a:bodyPr wrap="square" rtlCol="0">
            <a:spAutoFit/>
          </a:bodyPr>
          <a:lstStyle/>
          <a:p>
            <a:endParaRPr lang="en-US" sz="5400" b="1" dirty="0">
              <a:solidFill>
                <a:schemeClr val="bg1"/>
              </a:solidFill>
              <a:latin typeface="Aptos Display" panose="020B0004020202020204" pitchFamily="34" charset="0"/>
            </a:endParaRPr>
          </a:p>
          <a:p>
            <a:r>
              <a:rPr lang="en-US" sz="5400" b="1" dirty="0">
                <a:solidFill>
                  <a:schemeClr val="bg1"/>
                </a:solidFill>
                <a:latin typeface="Aptos Display" panose="020B0004020202020204" pitchFamily="34" charset="0"/>
              </a:rPr>
              <a:t>Heart Disease Prediction Project</a:t>
            </a:r>
          </a:p>
          <a:p>
            <a:endParaRPr lang="en-US" sz="5400" b="1" dirty="0">
              <a:solidFill>
                <a:schemeClr val="bg1"/>
              </a:solidFill>
              <a:latin typeface="Aptos Display" panose="020B0004020202020204" pitchFamily="34" charset="0"/>
            </a:endParaRPr>
          </a:p>
          <a:p>
            <a:endParaRPr lang="en-US" sz="5400" b="1" dirty="0">
              <a:solidFill>
                <a:schemeClr val="bg1"/>
              </a:solidFill>
              <a:latin typeface="Aptos Display" panose="020B0004020202020204" pitchFamily="34" charset="0"/>
            </a:endParaRPr>
          </a:p>
          <a:p>
            <a:endParaRPr lang="en-US" dirty="0">
              <a:solidFill>
                <a:schemeClr val="bg1"/>
              </a:solidFill>
            </a:endParaRPr>
          </a:p>
          <a:p>
            <a:endParaRPr lang="en-US" dirty="0">
              <a:solidFill>
                <a:schemeClr val="bg1"/>
              </a:solidFill>
              <a:latin typeface="Cambria" panose="02040503050406030204" pitchFamily="18" charset="0"/>
              <a:ea typeface="Cambria" panose="02040503050406030204" pitchFamily="18" charset="0"/>
            </a:endParaRPr>
          </a:p>
          <a:p>
            <a:r>
              <a:rPr lang="en-US" dirty="0">
                <a:solidFill>
                  <a:schemeClr val="bg1"/>
                </a:solidFill>
                <a:latin typeface="Cambria" panose="02040503050406030204" pitchFamily="18" charset="0"/>
                <a:ea typeface="Cambria" panose="02040503050406030204" pitchFamily="18" charset="0"/>
              </a:rPr>
              <a:t>Using Machine Learning to Predict Cardiovascular Risk Based on Health Features</a:t>
            </a:r>
          </a:p>
          <a:p>
            <a:endParaRPr lang="en-US" dirty="0">
              <a:solidFill>
                <a:schemeClr val="bg1"/>
              </a:solidFill>
              <a:latin typeface="Book Antiqua" panose="02040602050305030304" pitchFamily="18" charset="0"/>
            </a:endParaRPr>
          </a:p>
          <a:p>
            <a:r>
              <a:rPr lang="en-US" dirty="0">
                <a:solidFill>
                  <a:schemeClr val="bg1"/>
                </a:solidFill>
                <a:latin typeface="Cambria" panose="02040503050406030204" pitchFamily="18" charset="0"/>
                <a:ea typeface="Cambria" panose="02040503050406030204" pitchFamily="18" charset="0"/>
              </a:rPr>
              <a:t>by Kankana Mondal</a:t>
            </a:r>
          </a:p>
          <a:p>
            <a:r>
              <a:rPr lang="en-US" dirty="0">
                <a:solidFill>
                  <a:schemeClr val="bg1"/>
                </a:solidFill>
                <a:latin typeface="Cambria" panose="02040503050406030204" pitchFamily="18" charset="0"/>
                <a:ea typeface="Cambria" panose="02040503050406030204" pitchFamily="18" charset="0"/>
              </a:rPr>
              <a:t>AI-ML Using Python Project</a:t>
            </a:r>
          </a:p>
          <a:p>
            <a:endParaRPr lang="en-IN" dirty="0">
              <a:solidFill>
                <a:schemeClr val="bg1"/>
              </a:solidFill>
            </a:endParaRPr>
          </a:p>
        </p:txBody>
      </p:sp>
    </p:spTree>
    <p:extLst>
      <p:ext uri="{BB962C8B-B14F-4D97-AF65-F5344CB8AC3E}">
        <p14:creationId xmlns:p14="http://schemas.microsoft.com/office/powerpoint/2010/main" val="3896692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8E5FAC6D-CD43-74FD-5DB3-E546798E121F}"/>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32080" y="-121920"/>
            <a:ext cx="12456160" cy="7142480"/>
          </a:xfrm>
          <a:prstGeom prst="rect">
            <a:avLst/>
          </a:prstGeom>
        </p:spPr>
      </p:pic>
      <p:sp>
        <p:nvSpPr>
          <p:cNvPr id="10" name="TextBox 9">
            <a:extLst>
              <a:ext uri="{FF2B5EF4-FFF2-40B4-BE49-F238E27FC236}">
                <a16:creationId xmlns:a16="http://schemas.microsoft.com/office/drawing/2014/main" id="{B20E8B7A-40FC-9572-93D2-9D1A584C7F49}"/>
              </a:ext>
            </a:extLst>
          </p:cNvPr>
          <p:cNvSpPr txBox="1"/>
          <p:nvPr/>
        </p:nvSpPr>
        <p:spPr>
          <a:xfrm>
            <a:off x="605154" y="751344"/>
            <a:ext cx="11167745" cy="2677656"/>
          </a:xfrm>
          <a:prstGeom prst="rect">
            <a:avLst/>
          </a:prstGeom>
          <a:noFill/>
        </p:spPr>
        <p:txBody>
          <a:bodyPr wrap="square" rtlCol="0">
            <a:spAutoFit/>
          </a:bodyPr>
          <a:lstStyle/>
          <a:p>
            <a:r>
              <a:rPr lang="en-US" sz="4400" b="1" dirty="0">
                <a:solidFill>
                  <a:schemeClr val="bg1"/>
                </a:solidFill>
                <a:latin typeface="Aptos Display" panose="020B0004020202020204" pitchFamily="34" charset="0"/>
              </a:rPr>
              <a:t>Project Problem</a:t>
            </a:r>
            <a:endParaRPr lang="en-US" sz="4000" b="1" dirty="0">
              <a:solidFill>
                <a:schemeClr val="bg1"/>
              </a:solidFill>
              <a:latin typeface="Aptos Display" panose="020B0004020202020204" pitchFamily="34" charset="0"/>
            </a:endParaRPr>
          </a:p>
          <a:p>
            <a:r>
              <a:rPr lang="en-US" sz="2400" b="1" dirty="0">
                <a:solidFill>
                  <a:schemeClr val="bg1"/>
                </a:solidFill>
              </a:rPr>
              <a:t>Cardiovascular Health Challenge</a:t>
            </a:r>
          </a:p>
          <a:p>
            <a:r>
              <a:rPr lang="en-US" sz="2000" dirty="0">
                <a:solidFill>
                  <a:schemeClr val="bg1"/>
                </a:solidFill>
              </a:rPr>
              <a:t>Heart disease is a major global health concern requiring early detection. The dataset includes key medical and lifestyle features such as Age, Gender, Cholesterol, Diabetes, Smoking, Family History, Obesity, Chest Pain Type, Exercise Hours, and more. The goal is to analyze these factors and train a Logistic Regression model to classify patients into Heart Disease or No Heart Disease. This helps demonstrate how machine learning can support medical decision-making and risk assessment.</a:t>
            </a:r>
          </a:p>
        </p:txBody>
      </p:sp>
      <p:sp>
        <p:nvSpPr>
          <p:cNvPr id="11" name="TextBox 10">
            <a:extLst>
              <a:ext uri="{FF2B5EF4-FFF2-40B4-BE49-F238E27FC236}">
                <a16:creationId xmlns:a16="http://schemas.microsoft.com/office/drawing/2014/main" id="{03928119-38D9-D5CC-F419-C4D4448FEA7D}"/>
              </a:ext>
            </a:extLst>
          </p:cNvPr>
          <p:cNvSpPr txBox="1"/>
          <p:nvPr/>
        </p:nvSpPr>
        <p:spPr>
          <a:xfrm>
            <a:off x="293370" y="3931920"/>
            <a:ext cx="3550920" cy="1138773"/>
          </a:xfrm>
          <a:prstGeom prst="rect">
            <a:avLst/>
          </a:prstGeom>
          <a:noFill/>
        </p:spPr>
        <p:txBody>
          <a:bodyPr wrap="square" rtlCol="0">
            <a:spAutoFit/>
          </a:bodyPr>
          <a:lstStyle/>
          <a:p>
            <a:pPr algn="ctr"/>
            <a:r>
              <a:rPr lang="en-US" sz="2800" b="1" dirty="0">
                <a:solidFill>
                  <a:schemeClr val="bg1"/>
                </a:solidFill>
                <a:latin typeface="Cambria" panose="02040503050406030204" pitchFamily="18" charset="0"/>
                <a:ea typeface="Cambria" panose="02040503050406030204" pitchFamily="18" charset="0"/>
              </a:rPr>
              <a:t>Early Detection</a:t>
            </a:r>
          </a:p>
          <a:p>
            <a:pPr algn="ctr"/>
            <a:r>
              <a:rPr lang="en-US" sz="2000" dirty="0">
                <a:solidFill>
                  <a:schemeClr val="bg1"/>
                </a:solidFill>
                <a:latin typeface="Cambria" panose="02040503050406030204" pitchFamily="18" charset="0"/>
                <a:ea typeface="Cambria" panose="02040503050406030204" pitchFamily="18" charset="0"/>
              </a:rPr>
              <a:t>Identify at-risk individuals before symptoms appear</a:t>
            </a:r>
          </a:p>
        </p:txBody>
      </p:sp>
      <p:sp>
        <p:nvSpPr>
          <p:cNvPr id="12" name="TextBox 11">
            <a:extLst>
              <a:ext uri="{FF2B5EF4-FFF2-40B4-BE49-F238E27FC236}">
                <a16:creationId xmlns:a16="http://schemas.microsoft.com/office/drawing/2014/main" id="{9845727C-D361-5CA4-450D-8391A3972088}"/>
              </a:ext>
            </a:extLst>
          </p:cNvPr>
          <p:cNvSpPr txBox="1"/>
          <p:nvPr/>
        </p:nvSpPr>
        <p:spPr>
          <a:xfrm>
            <a:off x="4257675" y="4728350"/>
            <a:ext cx="3550920" cy="1138773"/>
          </a:xfrm>
          <a:prstGeom prst="rect">
            <a:avLst/>
          </a:prstGeom>
          <a:noFill/>
        </p:spPr>
        <p:txBody>
          <a:bodyPr wrap="square" rtlCol="0">
            <a:spAutoFit/>
          </a:bodyPr>
          <a:lstStyle/>
          <a:p>
            <a:pPr algn="ctr"/>
            <a:r>
              <a:rPr lang="en-US" sz="2800" b="1" dirty="0">
                <a:solidFill>
                  <a:schemeClr val="bg1"/>
                </a:solidFill>
                <a:latin typeface="Cambria" panose="02040503050406030204" pitchFamily="18" charset="0"/>
                <a:ea typeface="Cambria" panose="02040503050406030204" pitchFamily="18" charset="0"/>
              </a:rPr>
              <a:t>Risk Analysis</a:t>
            </a:r>
          </a:p>
          <a:p>
            <a:pPr algn="ctr"/>
            <a:r>
              <a:rPr lang="en-US" sz="2000" dirty="0">
                <a:solidFill>
                  <a:schemeClr val="bg1"/>
                </a:solidFill>
                <a:latin typeface="Cambria" panose="02040503050406030204" pitchFamily="18" charset="0"/>
                <a:ea typeface="Cambria" panose="02040503050406030204" pitchFamily="18" charset="0"/>
              </a:rPr>
              <a:t>Understand key factors contributing to heart disease</a:t>
            </a:r>
          </a:p>
        </p:txBody>
      </p:sp>
      <p:sp>
        <p:nvSpPr>
          <p:cNvPr id="13" name="TextBox 12">
            <a:extLst>
              <a:ext uri="{FF2B5EF4-FFF2-40B4-BE49-F238E27FC236}">
                <a16:creationId xmlns:a16="http://schemas.microsoft.com/office/drawing/2014/main" id="{F4471310-DCFE-3785-0C6F-A8CD16837FDA}"/>
              </a:ext>
            </a:extLst>
          </p:cNvPr>
          <p:cNvSpPr txBox="1"/>
          <p:nvPr/>
        </p:nvSpPr>
        <p:spPr>
          <a:xfrm>
            <a:off x="8221980" y="3931919"/>
            <a:ext cx="3550920" cy="1138773"/>
          </a:xfrm>
          <a:prstGeom prst="rect">
            <a:avLst/>
          </a:prstGeom>
          <a:noFill/>
        </p:spPr>
        <p:txBody>
          <a:bodyPr wrap="square" rtlCol="0">
            <a:spAutoFit/>
          </a:bodyPr>
          <a:lstStyle/>
          <a:p>
            <a:pPr algn="ctr"/>
            <a:r>
              <a:rPr lang="en-US" sz="2800" b="1" dirty="0">
                <a:solidFill>
                  <a:schemeClr val="bg1"/>
                </a:solidFill>
                <a:latin typeface="Cambria" panose="02040503050406030204" pitchFamily="18" charset="0"/>
                <a:ea typeface="Cambria" panose="02040503050406030204" pitchFamily="18" charset="0"/>
              </a:rPr>
              <a:t>Preventive Care</a:t>
            </a:r>
          </a:p>
          <a:p>
            <a:pPr algn="ctr"/>
            <a:r>
              <a:rPr lang="en-US" sz="2000" dirty="0">
                <a:solidFill>
                  <a:schemeClr val="bg1"/>
                </a:solidFill>
                <a:latin typeface="Cambria" panose="02040503050406030204" pitchFamily="18" charset="0"/>
                <a:ea typeface="Cambria" panose="02040503050406030204" pitchFamily="18" charset="0"/>
              </a:rPr>
              <a:t>Enable proactive healthcare decisions and interventions</a:t>
            </a:r>
          </a:p>
        </p:txBody>
      </p:sp>
    </p:spTree>
    <p:extLst>
      <p:ext uri="{BB962C8B-B14F-4D97-AF65-F5344CB8AC3E}">
        <p14:creationId xmlns:p14="http://schemas.microsoft.com/office/powerpoint/2010/main" val="23073144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8551D-D604-554D-AB86-2A1E4213BF8A}"/>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E10E7054-CCA8-7CC8-F8D4-EB97D785D1D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32080" y="-121920"/>
            <a:ext cx="12456160" cy="7142480"/>
          </a:xfrm>
          <a:prstGeom prst="rect">
            <a:avLst/>
          </a:prstGeom>
        </p:spPr>
      </p:pic>
      <p:sp>
        <p:nvSpPr>
          <p:cNvPr id="2" name="TextBox 1">
            <a:extLst>
              <a:ext uri="{FF2B5EF4-FFF2-40B4-BE49-F238E27FC236}">
                <a16:creationId xmlns:a16="http://schemas.microsoft.com/office/drawing/2014/main" id="{0D6ED65A-138C-7DD4-4EFB-4A24C65FBB21}"/>
              </a:ext>
            </a:extLst>
          </p:cNvPr>
          <p:cNvSpPr txBox="1"/>
          <p:nvPr/>
        </p:nvSpPr>
        <p:spPr>
          <a:xfrm>
            <a:off x="2367280" y="920228"/>
            <a:ext cx="9956800" cy="1323439"/>
          </a:xfrm>
          <a:prstGeom prst="rect">
            <a:avLst/>
          </a:prstGeom>
          <a:noFill/>
        </p:spPr>
        <p:txBody>
          <a:bodyPr wrap="square" rtlCol="0">
            <a:spAutoFit/>
          </a:bodyPr>
          <a:lstStyle/>
          <a:p>
            <a:r>
              <a:rPr lang="en-IN" sz="4000" b="1" dirty="0">
                <a:solidFill>
                  <a:schemeClr val="bg1"/>
                </a:solidFill>
                <a:latin typeface="Book Antiqua" panose="02040602050305030304" pitchFamily="18" charset="0"/>
              </a:rPr>
              <a:t>Data Preprocessing Pipeline</a:t>
            </a:r>
          </a:p>
          <a:p>
            <a:endParaRPr lang="en-IN" sz="4000" dirty="0">
              <a:solidFill>
                <a:schemeClr val="bg1"/>
              </a:solidFill>
              <a:latin typeface="Book Antiqua" panose="02040602050305030304" pitchFamily="18" charset="0"/>
            </a:endParaRPr>
          </a:p>
        </p:txBody>
      </p:sp>
      <p:graphicFrame>
        <p:nvGraphicFramePr>
          <p:cNvPr id="3" name="Diagram 2">
            <a:extLst>
              <a:ext uri="{FF2B5EF4-FFF2-40B4-BE49-F238E27FC236}">
                <a16:creationId xmlns:a16="http://schemas.microsoft.com/office/drawing/2014/main" id="{31FF76E0-055E-A8F4-8F12-197081973ED1}"/>
              </a:ext>
            </a:extLst>
          </p:cNvPr>
          <p:cNvGraphicFramePr/>
          <p:nvPr>
            <p:extLst>
              <p:ext uri="{D42A27DB-BD31-4B8C-83A1-F6EECF244321}">
                <p14:modId xmlns:p14="http://schemas.microsoft.com/office/powerpoint/2010/main" val="3122636570"/>
              </p:ext>
            </p:extLst>
          </p:nvPr>
        </p:nvGraphicFramePr>
        <p:xfrm>
          <a:off x="1351280" y="2243667"/>
          <a:ext cx="9489440" cy="386249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5" name="Graphic 4" descr="Tools with solid fill">
            <a:extLst>
              <a:ext uri="{FF2B5EF4-FFF2-40B4-BE49-F238E27FC236}">
                <a16:creationId xmlns:a16="http://schemas.microsoft.com/office/drawing/2014/main" id="{782E181F-FAB1-03DC-6E9C-B20D4FA7592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44040" y="3850639"/>
            <a:ext cx="690880" cy="690880"/>
          </a:xfrm>
          <a:prstGeom prst="rect">
            <a:avLst/>
          </a:prstGeom>
        </p:spPr>
      </p:pic>
      <p:pic>
        <p:nvPicPr>
          <p:cNvPr id="7" name="Graphic 6" descr="Large paint brush with solid fill">
            <a:extLst>
              <a:ext uri="{FF2B5EF4-FFF2-40B4-BE49-F238E27FC236}">
                <a16:creationId xmlns:a16="http://schemas.microsoft.com/office/drawing/2014/main" id="{1118F45C-8827-7F70-6852-ECF170FE93F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63040" y="2667000"/>
            <a:ext cx="762000" cy="762000"/>
          </a:xfrm>
          <a:prstGeom prst="rect">
            <a:avLst/>
          </a:prstGeom>
        </p:spPr>
      </p:pic>
      <p:pic>
        <p:nvPicPr>
          <p:cNvPr id="11" name="Graphic 10" descr="Checkmark with solid fill">
            <a:extLst>
              <a:ext uri="{FF2B5EF4-FFF2-40B4-BE49-F238E27FC236}">
                <a16:creationId xmlns:a16="http://schemas.microsoft.com/office/drawing/2014/main" id="{698068ED-FF09-8C1B-2487-153FD6A9CDC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534160" y="5035972"/>
            <a:ext cx="690880" cy="690880"/>
          </a:xfrm>
          <a:prstGeom prst="rect">
            <a:avLst/>
          </a:prstGeom>
        </p:spPr>
      </p:pic>
    </p:spTree>
    <p:extLst>
      <p:ext uri="{BB962C8B-B14F-4D97-AF65-F5344CB8AC3E}">
        <p14:creationId xmlns:p14="http://schemas.microsoft.com/office/powerpoint/2010/main" val="25698790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TotalTime>
  <Words>177</Words>
  <Application>Microsoft Office PowerPoint</Application>
  <PresentationFormat>Widescreen</PresentationFormat>
  <Paragraphs>26</Paragraphs>
  <Slides>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vt:i4>
      </vt:variant>
    </vt:vector>
  </HeadingPairs>
  <TitlesOfParts>
    <vt:vector size="10" baseType="lpstr">
      <vt:lpstr>Aptos Display</vt:lpstr>
      <vt:lpstr>Arial</vt:lpstr>
      <vt:lpstr>Book Antiqua</vt:lpstr>
      <vt:lpstr>Calibri</vt:lpstr>
      <vt:lpstr>Calibri Light</vt:lpstr>
      <vt:lpstr>Cambria</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Kankana Mondal</dc:creator>
  <cp:lastModifiedBy>Kankana Mondal</cp:lastModifiedBy>
  <cp:revision>1</cp:revision>
  <dcterms:created xsi:type="dcterms:W3CDTF">2025-11-14T17:26:58Z</dcterms:created>
  <dcterms:modified xsi:type="dcterms:W3CDTF">2025-11-14T18:15:28Z</dcterms:modified>
</cp:coreProperties>
</file>